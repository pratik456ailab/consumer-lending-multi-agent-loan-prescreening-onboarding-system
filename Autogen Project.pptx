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00" r:id="rId2"/>
    <p:sldId id="301" r:id="rId3"/>
    <p:sldId id="302" r:id="rId4"/>
    <p:sldId id="303" r:id="rId5"/>
    <p:sldId id="304" r:id="rId6"/>
    <p:sldId id="305" r:id="rId7"/>
    <p:sldId id="306" r:id="rId8"/>
    <p:sldId id="307" r:id="rId9"/>
    <p:sldId id="308" r:id="rId10"/>
    <p:sldId id="309" r:id="rId11"/>
    <p:sldId id="310" r:id="rId12"/>
    <p:sldId id="317" r:id="rId13"/>
    <p:sldId id="312" r:id="rId14"/>
    <p:sldId id="313" r:id="rId15"/>
    <p:sldId id="318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515" autoAdjust="0"/>
    <p:restoredTop sz="94660"/>
  </p:normalViewPr>
  <p:slideViewPr>
    <p:cSldViewPr snapToGrid="0">
      <p:cViewPr varScale="1">
        <p:scale>
          <a:sx n="68" d="100"/>
          <a:sy n="68" d="100"/>
        </p:scale>
        <p:origin x="72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D839B1-0DFD-4A2F-B552-4FAEA9EBE4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4C2532-4CB0-4BCA-AF9C-35C9B26FD4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5BFFD8-6B44-44A9-A15C-A9EFCEED63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FD2E38-0C7E-4A03-9CFD-EB8D5FDF4B2A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A2E70B-D881-4364-BCD4-CA1B2B4155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BE1A06-D33D-4B7C-B889-15D1D60E32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29B635-C4F3-406F-84EC-145542A6C7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26621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FD6083-0A8E-4E83-BFB6-0616702651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BA02CB-7F9D-43C8-A4D5-E69DFFC06C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CF13B3-AB5F-4E5C-B1DC-FE1DFDAF99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FD2E38-0C7E-4A03-9CFD-EB8D5FDF4B2A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3AF6E3-63B9-42AC-B4EC-B9153A7B33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089C1B-FBF7-4A61-8355-ECF225E9E8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29B635-C4F3-406F-84EC-145542A6C7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36878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6F4652-C004-44AC-A3D2-A3B00ECED2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C88308-97EE-4B15-B4DE-8A2E971F33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FED23D-81CA-4E4E-B82B-E3716A0C73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FD2E38-0C7E-4A03-9CFD-EB8D5FDF4B2A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0308D9-6B2A-4AA0-84CC-B7D3F92BD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DF60D0-BB65-40CB-8F95-17A1C43A65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29B635-C4F3-406F-84EC-145542A6C7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98544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2FF1E7-2721-4F48-B8CE-FE14F4A13C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2CB6B4-BC2C-42CD-8781-A797245E931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A23E9F-BAFA-4F66-B7E4-2A6AD15B79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E0E143-037C-4A6A-A104-26FDB8BBE8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FD2E38-0C7E-4A03-9CFD-EB8D5FDF4B2A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45FBDC-BE2B-4EE5-BB10-B9861531F3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2BA88B-BA69-4A16-A8F1-7C40E02DC4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29B635-C4F3-406F-84EC-145542A6C7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52140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F3CD0E-EFF6-4449-9497-FCC84DDDD3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5CAEC5-1F3F-4308-B377-B02F1D9409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28BCF3-7DAA-4D26-BE17-59FB530751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AF87422-AF77-4275-961C-40C48057BC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BA7BADA-3D1E-4F8B-9DAD-44C4F299F10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8964A03-DB2A-4507-BE56-D3F3F933C4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FD2E38-0C7E-4A03-9CFD-EB8D5FDF4B2A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9D135E0-C32F-4184-869E-C39E762BED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D48EAE-7FD1-41A2-B913-72E958C13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29B635-C4F3-406F-84EC-145542A6C7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49324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C8D22D-6192-42F6-8225-0A16669274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B8A2DE3-F356-4F8D-9A27-E0590EE944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FD2E38-0C7E-4A03-9CFD-EB8D5FDF4B2A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B0578A-9345-43F0-A3A8-8B7FA3042C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B8FFCD-0D7B-4887-81E6-139C6D7CC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29B635-C4F3-406F-84EC-145542A6C7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66116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48085A2-ECCF-4120-8818-890771DC88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FD2E38-0C7E-4A03-9CFD-EB8D5FDF4B2A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8674AD1-A49D-47AB-B179-24FC41420B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6145FA-4ED0-46EB-82A3-56FD9DFA27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29B635-C4F3-406F-84EC-145542A6C7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44892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4D8B34-C98C-4198-BED7-7D6696E938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240907-7D0E-47DD-8EE3-BD366881CB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9BD600-4253-4B0C-896F-9CB4460765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E8CE75-7B5A-40F6-A605-402393AB7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FD2E38-0C7E-4A03-9CFD-EB8D5FDF4B2A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996829-B891-4AD9-9609-8C8B7D55B0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05B7F-D829-4B77-99A5-C53FDD04B3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29B635-C4F3-406F-84EC-145542A6C7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17432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031738-62CD-42EB-9871-B05706092C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8FD93E1-7A0D-4AC9-A85D-A15AA50DB2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219622-6BF2-4FF3-9A53-59723FAFD7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F3879C-07A3-4C63-A2B6-A85297810F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FD2E38-0C7E-4A03-9CFD-EB8D5FDF4B2A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E5147B-E5A0-47D2-98CB-9504695C18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DC9172-6293-4662-987C-A74DD8F8FE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29B635-C4F3-406F-84EC-145542A6C7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5272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4C6D0F-01C1-4426-8814-A703663A82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1A1EA3D-9DF9-4717-97EA-04BB38A8B9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807ABB-97AA-416D-8A83-D96D74C1B2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FD2E38-0C7E-4A03-9CFD-EB8D5FDF4B2A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58294F-2D44-4AF5-8CD7-EB9E0A1C6C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CBD0A9-9354-4B68-B398-E2D8B53A2D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29B635-C4F3-406F-84EC-145542A6C7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32339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0EA60E0-E6E6-4BCF-A17D-6F26295A6C9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C8A15A-4A17-43E9-AE1D-3EDD4ADB52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A026E1-A89D-41DF-8CED-36AFED4BA2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FD2E38-0C7E-4A03-9CFD-EB8D5FDF4B2A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E2B9AD-16C1-4B40-BDEC-4A3B54F97F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817B01-63D7-45BF-9A92-A5F99DAE0B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29B635-C4F3-406F-84EC-145542A6C7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43897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202745"/>
                </a:solidFill>
                <a:latin typeface="Franklin Gothic Medium"/>
                <a:cs typeface="Franklin Gothic Medium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068903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582312E-652A-4974-9638-D71FFB4267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431B2D-2E1D-403B-95F9-60F44FAE28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783142-1F11-491C-A56F-3F438BF8C35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D2E38-0C7E-4A03-9CFD-EB8D5FDF4B2A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DFD47F-A1A9-4A19-B25D-4758CFC118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8BD45C-C635-49E1-B31A-0E3CE8F587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29B635-C4F3-406F-84EC-145542A6C7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64796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97629" y="4543761"/>
            <a:ext cx="9923145" cy="114300"/>
            <a:chOff x="897629" y="4543761"/>
            <a:chExt cx="9923145" cy="1143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97629" y="4543761"/>
              <a:ext cx="9922791" cy="11396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914400" y="4571999"/>
              <a:ext cx="9839325" cy="0"/>
            </a:xfrm>
            <a:custGeom>
              <a:avLst/>
              <a:gdLst/>
              <a:ahLst/>
              <a:cxnLst/>
              <a:rect l="l" t="t" r="r" b="b"/>
              <a:pathLst>
                <a:path w="9839325">
                  <a:moveTo>
                    <a:pt x="0" y="0"/>
                  </a:moveTo>
                  <a:lnTo>
                    <a:pt x="9839198" y="0"/>
                  </a:lnTo>
                </a:path>
              </a:pathLst>
            </a:custGeom>
            <a:ln w="38100">
              <a:solidFill>
                <a:srgbClr val="5DCEA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993139" y="2959684"/>
            <a:ext cx="8822055" cy="14897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spc="-35" dirty="0">
                <a:solidFill>
                  <a:srgbClr val="202745"/>
                </a:solidFill>
                <a:latin typeface="Franklin Gothic Medium"/>
                <a:cs typeface="Franklin Gothic Medium"/>
              </a:rPr>
              <a:t>Consumer</a:t>
            </a:r>
            <a:r>
              <a:rPr sz="4800" spc="-260" dirty="0">
                <a:solidFill>
                  <a:srgbClr val="202745"/>
                </a:solidFill>
                <a:latin typeface="Franklin Gothic Medium"/>
                <a:cs typeface="Franklin Gothic Medium"/>
              </a:rPr>
              <a:t> </a:t>
            </a:r>
            <a:r>
              <a:rPr sz="4800" spc="-10" dirty="0">
                <a:solidFill>
                  <a:srgbClr val="202745"/>
                </a:solidFill>
                <a:latin typeface="Franklin Gothic Medium"/>
                <a:cs typeface="Franklin Gothic Medium"/>
              </a:rPr>
              <a:t>Lending</a:t>
            </a:r>
            <a:endParaRPr sz="4800">
              <a:latin typeface="Franklin Gothic Medium"/>
              <a:cs typeface="Franklin Gothic Medium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4800" spc="-60" dirty="0">
                <a:solidFill>
                  <a:srgbClr val="202745"/>
                </a:solidFill>
                <a:latin typeface="Franklin Gothic Medium"/>
                <a:cs typeface="Franklin Gothic Medium"/>
              </a:rPr>
              <a:t>Pre-</a:t>
            </a:r>
            <a:r>
              <a:rPr sz="4800" spc="-55" dirty="0">
                <a:solidFill>
                  <a:srgbClr val="202745"/>
                </a:solidFill>
                <a:latin typeface="Franklin Gothic Medium"/>
                <a:cs typeface="Franklin Gothic Medium"/>
              </a:rPr>
              <a:t>screening</a:t>
            </a:r>
            <a:r>
              <a:rPr sz="4800" spc="-215" dirty="0">
                <a:solidFill>
                  <a:srgbClr val="202745"/>
                </a:solidFill>
                <a:latin typeface="Franklin Gothic Medium"/>
                <a:cs typeface="Franklin Gothic Medium"/>
              </a:rPr>
              <a:t> </a:t>
            </a:r>
            <a:r>
              <a:rPr sz="4800" dirty="0">
                <a:solidFill>
                  <a:srgbClr val="202745"/>
                </a:solidFill>
                <a:latin typeface="Franklin Gothic Medium"/>
                <a:cs typeface="Franklin Gothic Medium"/>
              </a:rPr>
              <a:t>&amp;</a:t>
            </a:r>
            <a:r>
              <a:rPr sz="4800" spc="-204" dirty="0">
                <a:solidFill>
                  <a:srgbClr val="202745"/>
                </a:solidFill>
                <a:latin typeface="Franklin Gothic Medium"/>
                <a:cs typeface="Franklin Gothic Medium"/>
              </a:rPr>
              <a:t> </a:t>
            </a:r>
            <a:r>
              <a:rPr sz="4800" spc="-60" dirty="0">
                <a:solidFill>
                  <a:srgbClr val="202745"/>
                </a:solidFill>
                <a:latin typeface="Franklin Gothic Medium"/>
                <a:cs typeface="Franklin Gothic Medium"/>
              </a:rPr>
              <a:t>Onboarding</a:t>
            </a:r>
            <a:r>
              <a:rPr sz="4800" spc="-150" dirty="0">
                <a:solidFill>
                  <a:srgbClr val="202745"/>
                </a:solidFill>
                <a:latin typeface="Franklin Gothic Medium"/>
                <a:cs typeface="Franklin Gothic Medium"/>
              </a:rPr>
              <a:t> </a:t>
            </a:r>
            <a:r>
              <a:rPr sz="4800" spc="-10" dirty="0">
                <a:solidFill>
                  <a:srgbClr val="202745"/>
                </a:solidFill>
                <a:latin typeface="Franklin Gothic Medium"/>
                <a:cs typeface="Franklin Gothic Medium"/>
              </a:rPr>
              <a:t>Agent</a:t>
            </a:r>
            <a:endParaRPr sz="4800">
              <a:latin typeface="Franklin Gothic Medium"/>
              <a:cs typeface="Franklin Gothic Mediu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8340" y="146431"/>
            <a:ext cx="8081009" cy="13677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-50" dirty="0"/>
              <a:t>Consumer</a:t>
            </a:r>
            <a:r>
              <a:rPr b="1" spc="-204" dirty="0"/>
              <a:t> </a:t>
            </a:r>
            <a:r>
              <a:rPr b="1" spc="-10" dirty="0"/>
              <a:t>Lending</a:t>
            </a:r>
          </a:p>
          <a:p>
            <a:pPr marL="12700">
              <a:lnSpc>
                <a:spcPct val="100000"/>
              </a:lnSpc>
            </a:pPr>
            <a:r>
              <a:rPr b="1" spc="-90" dirty="0"/>
              <a:t>Pre-</a:t>
            </a:r>
            <a:r>
              <a:rPr b="1" spc="-55" dirty="0"/>
              <a:t>screening</a:t>
            </a:r>
            <a:r>
              <a:rPr b="1" spc="-135" dirty="0"/>
              <a:t> </a:t>
            </a:r>
            <a:r>
              <a:rPr b="1" dirty="0"/>
              <a:t>&amp;</a:t>
            </a:r>
            <a:r>
              <a:rPr b="1" spc="-180" dirty="0"/>
              <a:t> </a:t>
            </a:r>
            <a:r>
              <a:rPr b="1" spc="-60" dirty="0"/>
              <a:t>Onboarding</a:t>
            </a:r>
            <a:r>
              <a:rPr b="1" spc="-165" dirty="0"/>
              <a:t> </a:t>
            </a:r>
            <a:r>
              <a:rPr b="1" spc="-10" dirty="0"/>
              <a:t>Agent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79270" y="4019797"/>
            <a:ext cx="844486" cy="761873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64538" y="1685791"/>
            <a:ext cx="844486" cy="761873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483766" y="2825833"/>
            <a:ext cx="907414" cy="815756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436268" y="5283347"/>
            <a:ext cx="907414" cy="815756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2862452" y="1771015"/>
            <a:ext cx="8015605" cy="406590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3945254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Trebuchet MS"/>
                <a:cs typeface="Trebuchet MS"/>
              </a:rPr>
              <a:t>Agent-</a:t>
            </a:r>
            <a:r>
              <a:rPr sz="1800" b="1" dirty="0">
                <a:latin typeface="Trebuchet MS"/>
                <a:cs typeface="Trebuchet MS"/>
              </a:rPr>
              <a:t>1</a:t>
            </a:r>
            <a:r>
              <a:rPr sz="1800" b="1" spc="-2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:</a:t>
            </a:r>
            <a:r>
              <a:rPr sz="1800" spc="-1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Collects</a:t>
            </a:r>
            <a:r>
              <a:rPr sz="1800" spc="-3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the</a:t>
            </a:r>
            <a:r>
              <a:rPr sz="1800" spc="-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customer</a:t>
            </a:r>
            <a:r>
              <a:rPr sz="1800" spc="-15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details </a:t>
            </a:r>
            <a:r>
              <a:rPr sz="1800" dirty="0">
                <a:latin typeface="Trebuchet MS"/>
                <a:cs typeface="Trebuchet MS"/>
              </a:rPr>
              <a:t>Like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Name</a:t>
            </a:r>
            <a:r>
              <a:rPr sz="1800" spc="-4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and</a:t>
            </a:r>
            <a:r>
              <a:rPr sz="1800" spc="-3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Mobile</a:t>
            </a:r>
            <a:r>
              <a:rPr sz="1800" spc="-50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number</a:t>
            </a: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770"/>
              </a:spcBef>
            </a:pP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800" b="1" spc="-10" dirty="0">
                <a:latin typeface="Trebuchet MS"/>
                <a:cs typeface="Trebuchet MS"/>
              </a:rPr>
              <a:t>Agent-</a:t>
            </a:r>
            <a:r>
              <a:rPr sz="1800" b="1" dirty="0">
                <a:latin typeface="Trebuchet MS"/>
                <a:cs typeface="Trebuchet MS"/>
              </a:rPr>
              <a:t>2</a:t>
            </a:r>
            <a:r>
              <a:rPr sz="1800" b="1" spc="-3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:</a:t>
            </a:r>
            <a:r>
              <a:rPr sz="1800" spc="-3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Collects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the</a:t>
            </a:r>
            <a:r>
              <a:rPr sz="1800" spc="-2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interested</a:t>
            </a:r>
            <a:r>
              <a:rPr sz="1800" spc="-30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products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Trebuchet MS"/>
                <a:cs typeface="Trebuchet MS"/>
              </a:rPr>
              <a:t>Like</a:t>
            </a:r>
            <a:r>
              <a:rPr sz="1800" spc="-5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Home</a:t>
            </a:r>
            <a:r>
              <a:rPr sz="1800" spc="-55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Loan/Personal</a:t>
            </a:r>
            <a:r>
              <a:rPr sz="1800" spc="-5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Loan/Education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Loan/Gold</a:t>
            </a:r>
            <a:r>
              <a:rPr sz="1800" spc="-55" dirty="0">
                <a:latin typeface="Trebuchet MS"/>
                <a:cs typeface="Trebuchet MS"/>
              </a:rPr>
              <a:t> </a:t>
            </a:r>
            <a:r>
              <a:rPr sz="1800" spc="-20" dirty="0">
                <a:latin typeface="Trebuchet MS"/>
                <a:cs typeface="Trebuchet MS"/>
              </a:rPr>
              <a:t>loan</a:t>
            </a: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155"/>
              </a:spcBef>
            </a:pP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800" b="1" spc="-10" dirty="0">
                <a:latin typeface="Trebuchet MS"/>
                <a:cs typeface="Trebuchet MS"/>
              </a:rPr>
              <a:t>Agent-</a:t>
            </a:r>
            <a:r>
              <a:rPr sz="1800" b="1" dirty="0">
                <a:latin typeface="Trebuchet MS"/>
                <a:cs typeface="Trebuchet MS"/>
              </a:rPr>
              <a:t>3</a:t>
            </a:r>
            <a:r>
              <a:rPr sz="1800" b="1" spc="-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:</a:t>
            </a:r>
            <a:r>
              <a:rPr sz="1800" spc="-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Loan</a:t>
            </a:r>
            <a:r>
              <a:rPr sz="1800" spc="-5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Documents</a:t>
            </a:r>
            <a:r>
              <a:rPr sz="1800" spc="-100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Agent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Trebuchet MS"/>
                <a:cs typeface="Trebuchet MS"/>
              </a:rPr>
              <a:t>provide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the</a:t>
            </a:r>
            <a:r>
              <a:rPr sz="1800" spc="-3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information</a:t>
            </a:r>
            <a:r>
              <a:rPr sz="1800" spc="-4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on</a:t>
            </a:r>
            <a:r>
              <a:rPr sz="1800" spc="-4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loan</a:t>
            </a:r>
            <a:r>
              <a:rPr sz="1800" spc="-3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processing</a:t>
            </a:r>
            <a:r>
              <a:rPr sz="1800" spc="-7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checklist</a:t>
            </a:r>
            <a:r>
              <a:rPr sz="1800" spc="-12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Aadhaar</a:t>
            </a:r>
            <a:r>
              <a:rPr sz="1800" spc="-5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Card</a:t>
            </a:r>
            <a:r>
              <a:rPr sz="1800" spc="-4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/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spc="-65" dirty="0">
                <a:latin typeface="Trebuchet MS"/>
                <a:cs typeface="Trebuchet MS"/>
              </a:rPr>
              <a:t>PAN</a:t>
            </a:r>
            <a:r>
              <a:rPr sz="1800" spc="-55" dirty="0">
                <a:latin typeface="Trebuchet MS"/>
                <a:cs typeface="Trebuchet MS"/>
              </a:rPr>
              <a:t> </a:t>
            </a:r>
            <a:r>
              <a:rPr sz="1800" spc="-20" dirty="0">
                <a:latin typeface="Trebuchet MS"/>
                <a:cs typeface="Trebuchet MS"/>
              </a:rPr>
              <a:t>Card</a:t>
            </a: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155"/>
              </a:spcBef>
            </a:pP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800" b="1" spc="-10" dirty="0">
                <a:latin typeface="Trebuchet MS"/>
                <a:cs typeface="Trebuchet MS"/>
              </a:rPr>
              <a:t>Agent-</a:t>
            </a:r>
            <a:r>
              <a:rPr sz="1800" b="1" dirty="0">
                <a:latin typeface="Trebuchet MS"/>
                <a:cs typeface="Trebuchet MS"/>
              </a:rPr>
              <a:t>4</a:t>
            </a:r>
            <a:r>
              <a:rPr sz="1800" b="1" spc="-2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:</a:t>
            </a:r>
            <a:r>
              <a:rPr sz="1800" spc="-1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Customer</a:t>
            </a:r>
            <a:r>
              <a:rPr sz="1800" spc="-20" dirty="0">
                <a:latin typeface="Trebuchet MS"/>
                <a:cs typeface="Trebuchet MS"/>
              </a:rPr>
              <a:t> </a:t>
            </a:r>
            <a:r>
              <a:rPr sz="1800" spc="-25" dirty="0">
                <a:latin typeface="Trebuchet MS"/>
                <a:cs typeface="Trebuchet MS"/>
              </a:rPr>
              <a:t>Proxy</a:t>
            </a:r>
            <a:r>
              <a:rPr sz="1800" spc="-114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Agent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  <a:tabLst>
                <a:tab pos="1847214" algn="l"/>
              </a:tabLst>
            </a:pPr>
            <a:r>
              <a:rPr sz="1800" dirty="0">
                <a:latin typeface="Trebuchet MS"/>
                <a:cs typeface="Trebuchet MS"/>
              </a:rPr>
              <a:t>This</a:t>
            </a:r>
            <a:r>
              <a:rPr sz="1800" spc="-1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is</a:t>
            </a:r>
            <a:r>
              <a:rPr sz="1800" spc="-2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not</a:t>
            </a:r>
            <a:r>
              <a:rPr sz="1800" spc="-2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a</a:t>
            </a:r>
            <a:r>
              <a:rPr sz="1800" spc="-20" dirty="0">
                <a:latin typeface="Trebuchet MS"/>
                <a:cs typeface="Trebuchet MS"/>
              </a:rPr>
              <a:t> </a:t>
            </a:r>
            <a:r>
              <a:rPr sz="1800" spc="-25" dirty="0">
                <a:latin typeface="Trebuchet MS"/>
                <a:cs typeface="Trebuchet MS"/>
              </a:rPr>
              <a:t>LLM</a:t>
            </a:r>
            <a:r>
              <a:rPr sz="1800" dirty="0">
                <a:latin typeface="Trebuchet MS"/>
                <a:cs typeface="Trebuchet MS"/>
              </a:rPr>
              <a:t>	agent.</a:t>
            </a:r>
            <a:r>
              <a:rPr sz="1800" spc="-4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It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just</a:t>
            </a:r>
            <a:r>
              <a:rPr sz="1800" spc="-5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takes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the</a:t>
            </a:r>
            <a:r>
              <a:rPr sz="1800" spc="-4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input</a:t>
            </a:r>
            <a:r>
              <a:rPr sz="1800" spc="-5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from</a:t>
            </a:r>
            <a:r>
              <a:rPr sz="1800" spc="-4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the</a:t>
            </a:r>
            <a:r>
              <a:rPr sz="1800" spc="-35" dirty="0">
                <a:latin typeface="Trebuchet MS"/>
                <a:cs typeface="Trebuchet MS"/>
              </a:rPr>
              <a:t> </a:t>
            </a:r>
            <a:r>
              <a:rPr sz="1800" spc="-20" dirty="0">
                <a:latin typeface="Trebuchet MS"/>
                <a:cs typeface="Trebuchet MS"/>
              </a:rPr>
              <a:t>user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8340" y="481711"/>
            <a:ext cx="281559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1" spc="-40" dirty="0"/>
              <a:t>Initial</a:t>
            </a:r>
            <a:r>
              <a:rPr b="1" spc="-229" dirty="0"/>
              <a:t> </a:t>
            </a:r>
            <a:r>
              <a:rPr b="1" spc="-35" dirty="0"/>
              <a:t>Setup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3541" y="1715261"/>
            <a:ext cx="9965436" cy="171373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8200" y="682619"/>
            <a:ext cx="10515600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1" spc="-70" dirty="0"/>
              <a:t>Agent-</a:t>
            </a:r>
            <a:r>
              <a:rPr b="1" dirty="0"/>
              <a:t>1</a:t>
            </a:r>
            <a:r>
              <a:rPr b="1" spc="-150" dirty="0"/>
              <a:t> </a:t>
            </a:r>
            <a:r>
              <a:rPr b="1" dirty="0"/>
              <a:t>:</a:t>
            </a:r>
            <a:r>
              <a:rPr b="1" spc="-165" dirty="0"/>
              <a:t> </a:t>
            </a:r>
            <a:r>
              <a:rPr b="1" spc="-55" dirty="0"/>
              <a:t>Collects</a:t>
            </a:r>
            <a:r>
              <a:rPr b="1" spc="-170" dirty="0"/>
              <a:t> </a:t>
            </a:r>
            <a:r>
              <a:rPr b="1" dirty="0"/>
              <a:t>the</a:t>
            </a:r>
            <a:r>
              <a:rPr b="1" spc="-150" dirty="0"/>
              <a:t> </a:t>
            </a:r>
            <a:r>
              <a:rPr b="1" spc="-60" dirty="0"/>
              <a:t>customer</a:t>
            </a:r>
            <a:r>
              <a:rPr b="1" spc="-145" dirty="0"/>
              <a:t> </a:t>
            </a:r>
            <a:r>
              <a:rPr b="1" spc="-10" dirty="0"/>
              <a:t>details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3468" y="1417688"/>
            <a:ext cx="10028682" cy="47624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8200" y="682619"/>
            <a:ext cx="10515600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1" spc="-70" dirty="0"/>
              <a:t>Agent-</a:t>
            </a:r>
            <a:r>
              <a:rPr b="1" dirty="0"/>
              <a:t>2</a:t>
            </a:r>
            <a:r>
              <a:rPr b="1" spc="-135" dirty="0"/>
              <a:t> </a:t>
            </a:r>
            <a:r>
              <a:rPr b="1" dirty="0"/>
              <a:t>:</a:t>
            </a:r>
            <a:r>
              <a:rPr b="1" spc="-150" dirty="0"/>
              <a:t> </a:t>
            </a:r>
            <a:r>
              <a:rPr b="1" spc="-55" dirty="0"/>
              <a:t>Collects</a:t>
            </a:r>
            <a:r>
              <a:rPr b="1" spc="-160" dirty="0"/>
              <a:t> </a:t>
            </a:r>
            <a:r>
              <a:rPr b="1" dirty="0"/>
              <a:t>the</a:t>
            </a:r>
            <a:r>
              <a:rPr b="1" spc="-135" dirty="0"/>
              <a:t> </a:t>
            </a:r>
            <a:r>
              <a:rPr b="1" spc="-80" dirty="0"/>
              <a:t>interested</a:t>
            </a:r>
            <a:r>
              <a:rPr b="1" spc="-120" dirty="0"/>
              <a:t> </a:t>
            </a:r>
            <a:r>
              <a:rPr b="1" spc="-10" dirty="0"/>
              <a:t>products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3018" y="1600200"/>
            <a:ext cx="10113137" cy="475608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8200" y="682619"/>
            <a:ext cx="10515600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1" spc="-70" dirty="0"/>
              <a:t>Agent-</a:t>
            </a:r>
            <a:r>
              <a:rPr b="1" dirty="0"/>
              <a:t>3:</a:t>
            </a:r>
            <a:r>
              <a:rPr b="1" spc="-170" dirty="0"/>
              <a:t> </a:t>
            </a:r>
            <a:r>
              <a:rPr b="1" spc="-20" dirty="0"/>
              <a:t>Loan</a:t>
            </a:r>
            <a:r>
              <a:rPr b="1" spc="-195" dirty="0"/>
              <a:t> </a:t>
            </a:r>
            <a:r>
              <a:rPr b="1" spc="-55" dirty="0"/>
              <a:t>Documents</a:t>
            </a:r>
            <a:r>
              <a:rPr b="1" spc="-185" dirty="0"/>
              <a:t> </a:t>
            </a:r>
            <a:r>
              <a:rPr b="1" spc="-10" dirty="0"/>
              <a:t>Agent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6569" y="1417599"/>
            <a:ext cx="7914894" cy="512271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8200" y="682619"/>
            <a:ext cx="10515600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1" spc="-35" dirty="0"/>
              <a:t>Agent4:</a:t>
            </a:r>
            <a:r>
              <a:rPr b="1" spc="-185" dirty="0"/>
              <a:t> </a:t>
            </a:r>
            <a:r>
              <a:rPr b="1" spc="-65" dirty="0"/>
              <a:t>Customer</a:t>
            </a:r>
            <a:r>
              <a:rPr b="1" spc="-180" dirty="0"/>
              <a:t> </a:t>
            </a:r>
            <a:r>
              <a:rPr b="1" spc="-55" dirty="0"/>
              <a:t>Proxy</a:t>
            </a:r>
            <a:r>
              <a:rPr b="1" spc="-190" dirty="0"/>
              <a:t> </a:t>
            </a:r>
            <a:r>
              <a:rPr b="1" spc="-10" dirty="0"/>
              <a:t>Agent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600" y="1775637"/>
            <a:ext cx="8695182" cy="452376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8340" y="481711"/>
            <a:ext cx="3430904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45" dirty="0"/>
              <a:t>Creating</a:t>
            </a:r>
            <a:r>
              <a:rPr spc="-229" dirty="0"/>
              <a:t> </a:t>
            </a:r>
            <a:r>
              <a:rPr spc="-75" dirty="0"/>
              <a:t>Tasks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28916" y="4446263"/>
            <a:ext cx="844486" cy="761873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26809" y="1649850"/>
            <a:ext cx="844486" cy="761873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31304" y="3082754"/>
            <a:ext cx="907414" cy="815756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889521" y="1586948"/>
            <a:ext cx="907414" cy="815756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529588" y="1690242"/>
            <a:ext cx="230187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Trebuchet MS"/>
                <a:cs typeface="Trebuchet MS"/>
              </a:rPr>
              <a:t>Agent-</a:t>
            </a:r>
            <a:r>
              <a:rPr sz="1800" b="1" dirty="0">
                <a:latin typeface="Trebuchet MS"/>
                <a:cs typeface="Trebuchet MS"/>
              </a:rPr>
              <a:t>1 </a:t>
            </a:r>
            <a:r>
              <a:rPr sz="1800" dirty="0">
                <a:latin typeface="Trebuchet MS"/>
                <a:cs typeface="Trebuchet MS"/>
              </a:rPr>
              <a:t>: Collects</a:t>
            </a:r>
            <a:r>
              <a:rPr sz="1800" spc="-15" dirty="0">
                <a:latin typeface="Trebuchet MS"/>
                <a:cs typeface="Trebuchet MS"/>
              </a:rPr>
              <a:t> </a:t>
            </a:r>
            <a:r>
              <a:rPr sz="1800" spc="-25" dirty="0">
                <a:latin typeface="Trebuchet MS"/>
                <a:cs typeface="Trebuchet MS"/>
              </a:rPr>
              <a:t>the </a:t>
            </a:r>
            <a:r>
              <a:rPr sz="1800" dirty="0">
                <a:latin typeface="Trebuchet MS"/>
                <a:cs typeface="Trebuchet MS"/>
              </a:rPr>
              <a:t>customer</a:t>
            </a:r>
            <a:r>
              <a:rPr sz="1800" spc="-25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details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529588" y="3000502"/>
            <a:ext cx="230187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Trebuchet MS"/>
                <a:cs typeface="Trebuchet MS"/>
              </a:rPr>
              <a:t>Agent-</a:t>
            </a:r>
            <a:r>
              <a:rPr sz="1800" b="1" dirty="0">
                <a:latin typeface="Trebuchet MS"/>
                <a:cs typeface="Trebuchet MS"/>
              </a:rPr>
              <a:t>2 </a:t>
            </a:r>
            <a:r>
              <a:rPr sz="1800" dirty="0">
                <a:latin typeface="Trebuchet MS"/>
                <a:cs typeface="Trebuchet MS"/>
              </a:rPr>
              <a:t>: Collects</a:t>
            </a:r>
            <a:r>
              <a:rPr sz="1800" spc="-15" dirty="0">
                <a:latin typeface="Trebuchet MS"/>
                <a:cs typeface="Trebuchet MS"/>
              </a:rPr>
              <a:t> </a:t>
            </a:r>
            <a:r>
              <a:rPr sz="1800" spc="-25" dirty="0">
                <a:latin typeface="Trebuchet MS"/>
                <a:cs typeface="Trebuchet MS"/>
              </a:rPr>
              <a:t>the </a:t>
            </a:r>
            <a:r>
              <a:rPr sz="1800" dirty="0">
                <a:latin typeface="Trebuchet MS"/>
                <a:cs typeface="Trebuchet MS"/>
              </a:rPr>
              <a:t>interested</a:t>
            </a:r>
            <a:r>
              <a:rPr sz="1800" spc="-100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products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171180" y="4373371"/>
            <a:ext cx="179387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Trebuchet MS"/>
                <a:cs typeface="Trebuchet MS"/>
              </a:rPr>
              <a:t>Agent-</a:t>
            </a:r>
            <a:r>
              <a:rPr sz="1800" b="1" dirty="0">
                <a:latin typeface="Trebuchet MS"/>
                <a:cs typeface="Trebuchet MS"/>
              </a:rPr>
              <a:t>3</a:t>
            </a:r>
            <a:r>
              <a:rPr sz="1800" b="1" spc="1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:</a:t>
            </a:r>
            <a:r>
              <a:rPr sz="1800" spc="10" dirty="0">
                <a:latin typeface="Trebuchet MS"/>
                <a:cs typeface="Trebuchet MS"/>
              </a:rPr>
              <a:t> </a:t>
            </a:r>
            <a:r>
              <a:rPr sz="1800" spc="-20" dirty="0">
                <a:latin typeface="Trebuchet MS"/>
                <a:cs typeface="Trebuchet MS"/>
              </a:rPr>
              <a:t>Loan </a:t>
            </a:r>
            <a:r>
              <a:rPr sz="1800" spc="-10" dirty="0">
                <a:latin typeface="Trebuchet MS"/>
                <a:cs typeface="Trebuchet MS"/>
              </a:rPr>
              <a:t>Documents</a:t>
            </a:r>
            <a:r>
              <a:rPr sz="1800" spc="-75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Agent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012683" y="1584197"/>
            <a:ext cx="205168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Trebuchet MS"/>
                <a:cs typeface="Trebuchet MS"/>
              </a:rPr>
              <a:t>Agent-</a:t>
            </a:r>
            <a:r>
              <a:rPr sz="1800" b="1" dirty="0">
                <a:latin typeface="Trebuchet MS"/>
                <a:cs typeface="Trebuchet MS"/>
              </a:rPr>
              <a:t>4</a:t>
            </a:r>
            <a:r>
              <a:rPr sz="1800" b="1" spc="1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:</a:t>
            </a:r>
            <a:r>
              <a:rPr sz="1800" spc="10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Customer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800" spc="-25" dirty="0">
                <a:latin typeface="Trebuchet MS"/>
                <a:cs typeface="Trebuchet MS"/>
              </a:rPr>
              <a:t>Proxy</a:t>
            </a:r>
            <a:r>
              <a:rPr sz="1800" spc="-95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Agent</a:t>
            </a:r>
            <a:endParaRPr sz="1800">
              <a:latin typeface="Trebuchet MS"/>
              <a:cs typeface="Trebuchet MS"/>
            </a:endParaRPr>
          </a:p>
        </p:txBody>
      </p:sp>
      <p:pic>
        <p:nvPicPr>
          <p:cNvPr id="11" name="object 1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961530" y="2888063"/>
            <a:ext cx="907414" cy="815756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8142858" y="2871978"/>
            <a:ext cx="205168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Trebuchet MS"/>
                <a:cs typeface="Trebuchet MS"/>
              </a:rPr>
              <a:t>Agent-</a:t>
            </a:r>
            <a:r>
              <a:rPr sz="1800" b="1" dirty="0">
                <a:latin typeface="Trebuchet MS"/>
                <a:cs typeface="Trebuchet MS"/>
              </a:rPr>
              <a:t>4</a:t>
            </a:r>
            <a:r>
              <a:rPr sz="1800" b="1" spc="1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:</a:t>
            </a:r>
            <a:r>
              <a:rPr sz="1800" spc="10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Customer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800" spc="-25" dirty="0">
                <a:latin typeface="Trebuchet MS"/>
                <a:cs typeface="Trebuchet MS"/>
              </a:rPr>
              <a:t>Proxy</a:t>
            </a:r>
            <a:r>
              <a:rPr sz="1800" spc="-95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Agent</a:t>
            </a:r>
            <a:endParaRPr sz="1800">
              <a:latin typeface="Trebuchet MS"/>
              <a:cs typeface="Trebuchet MS"/>
            </a:endParaRPr>
          </a:p>
        </p:txBody>
      </p:sp>
      <p:pic>
        <p:nvPicPr>
          <p:cNvPr id="13" name="object 1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31304" y="4455243"/>
            <a:ext cx="907414" cy="815756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1640204" y="4373371"/>
            <a:ext cx="205168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Trebuchet MS"/>
                <a:cs typeface="Trebuchet MS"/>
              </a:rPr>
              <a:t>Agent-</a:t>
            </a:r>
            <a:r>
              <a:rPr sz="1800" b="1" dirty="0">
                <a:latin typeface="Trebuchet MS"/>
                <a:cs typeface="Trebuchet MS"/>
              </a:rPr>
              <a:t>4</a:t>
            </a:r>
            <a:r>
              <a:rPr sz="1800" b="1" spc="1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:</a:t>
            </a:r>
            <a:r>
              <a:rPr sz="1800" spc="10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Customer </a:t>
            </a:r>
            <a:r>
              <a:rPr sz="1800" spc="-25" dirty="0">
                <a:latin typeface="Trebuchet MS"/>
                <a:cs typeface="Trebuchet MS"/>
              </a:rPr>
              <a:t>Proxy</a:t>
            </a:r>
            <a:r>
              <a:rPr sz="1800" spc="-95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Agent</a:t>
            </a:r>
            <a:endParaRPr sz="1800">
              <a:latin typeface="Trebuchet MS"/>
              <a:cs typeface="Trebuchet MS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4113529" y="1411350"/>
            <a:ext cx="2646680" cy="1108075"/>
            <a:chOff x="4113529" y="1411350"/>
            <a:chExt cx="2646680" cy="1108075"/>
          </a:xfrm>
        </p:grpSpPr>
        <p:sp>
          <p:nvSpPr>
            <p:cNvPr id="16" name="object 16"/>
            <p:cNvSpPr/>
            <p:nvPr/>
          </p:nvSpPr>
          <p:spPr>
            <a:xfrm>
              <a:off x="4119879" y="1417700"/>
              <a:ext cx="2633980" cy="1095375"/>
            </a:xfrm>
            <a:custGeom>
              <a:avLst/>
              <a:gdLst/>
              <a:ahLst/>
              <a:cxnLst/>
              <a:rect l="l" t="t" r="r" b="b"/>
              <a:pathLst>
                <a:path w="2633979" h="1095375">
                  <a:moveTo>
                    <a:pt x="2086102" y="0"/>
                  </a:moveTo>
                  <a:lnTo>
                    <a:pt x="2086102" y="273685"/>
                  </a:lnTo>
                  <a:lnTo>
                    <a:pt x="0" y="273685"/>
                  </a:lnTo>
                  <a:lnTo>
                    <a:pt x="0" y="821182"/>
                  </a:lnTo>
                  <a:lnTo>
                    <a:pt x="2086102" y="821182"/>
                  </a:lnTo>
                  <a:lnTo>
                    <a:pt x="2086102" y="1094994"/>
                  </a:lnTo>
                  <a:lnTo>
                    <a:pt x="2633599" y="547497"/>
                  </a:lnTo>
                  <a:lnTo>
                    <a:pt x="2086102" y="0"/>
                  </a:lnTo>
                  <a:close/>
                </a:path>
              </a:pathLst>
            </a:custGeom>
            <a:solidFill>
              <a:srgbClr val="BCE6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119879" y="1417700"/>
              <a:ext cx="2633980" cy="1095375"/>
            </a:xfrm>
            <a:custGeom>
              <a:avLst/>
              <a:gdLst/>
              <a:ahLst/>
              <a:cxnLst/>
              <a:rect l="l" t="t" r="r" b="b"/>
              <a:pathLst>
                <a:path w="2633979" h="1095375">
                  <a:moveTo>
                    <a:pt x="0" y="273685"/>
                  </a:moveTo>
                  <a:lnTo>
                    <a:pt x="2086102" y="273685"/>
                  </a:lnTo>
                  <a:lnTo>
                    <a:pt x="2086102" y="0"/>
                  </a:lnTo>
                  <a:lnTo>
                    <a:pt x="2633599" y="547497"/>
                  </a:lnTo>
                  <a:lnTo>
                    <a:pt x="2086102" y="1094994"/>
                  </a:lnTo>
                  <a:lnTo>
                    <a:pt x="2086102" y="821182"/>
                  </a:lnTo>
                  <a:lnTo>
                    <a:pt x="0" y="821182"/>
                  </a:lnTo>
                  <a:lnTo>
                    <a:pt x="0" y="273685"/>
                  </a:lnTo>
                  <a:close/>
                </a:path>
              </a:pathLst>
            </a:custGeom>
            <a:ln w="12700">
              <a:solidFill>
                <a:srgbClr val="57C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4421885" y="1703069"/>
            <a:ext cx="175387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01295" marR="5080" indent="-18923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latin typeface="Trebuchet MS"/>
                <a:cs typeface="Trebuchet MS"/>
              </a:rPr>
              <a:t>Gets</a:t>
            </a:r>
            <a:r>
              <a:rPr sz="1600" spc="-30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the</a:t>
            </a:r>
            <a:r>
              <a:rPr sz="1600" spc="-25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name</a:t>
            </a:r>
            <a:r>
              <a:rPr sz="1600" spc="-30" dirty="0">
                <a:latin typeface="Trebuchet MS"/>
                <a:cs typeface="Trebuchet MS"/>
              </a:rPr>
              <a:t> </a:t>
            </a:r>
            <a:r>
              <a:rPr sz="1600" spc="-25" dirty="0">
                <a:latin typeface="Trebuchet MS"/>
                <a:cs typeface="Trebuchet MS"/>
              </a:rPr>
              <a:t>and </a:t>
            </a:r>
            <a:r>
              <a:rPr sz="1600" dirty="0">
                <a:latin typeface="Trebuchet MS"/>
                <a:cs typeface="Trebuchet MS"/>
              </a:rPr>
              <a:t>Mobile</a:t>
            </a:r>
            <a:r>
              <a:rPr sz="1600" spc="-40" dirty="0">
                <a:latin typeface="Trebuchet MS"/>
                <a:cs typeface="Trebuchet MS"/>
              </a:rPr>
              <a:t> </a:t>
            </a:r>
            <a:r>
              <a:rPr sz="1600" spc="-10" dirty="0">
                <a:latin typeface="Trebuchet MS"/>
                <a:cs typeface="Trebuchet MS"/>
              </a:rPr>
              <a:t>number</a:t>
            </a:r>
            <a:endParaRPr sz="1600">
              <a:latin typeface="Trebuchet MS"/>
              <a:cs typeface="Trebuchet MS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4041266" y="2713863"/>
            <a:ext cx="2646680" cy="1108075"/>
            <a:chOff x="4041266" y="2713863"/>
            <a:chExt cx="2646680" cy="1108075"/>
          </a:xfrm>
        </p:grpSpPr>
        <p:sp>
          <p:nvSpPr>
            <p:cNvPr id="20" name="object 20"/>
            <p:cNvSpPr/>
            <p:nvPr/>
          </p:nvSpPr>
          <p:spPr>
            <a:xfrm>
              <a:off x="4047616" y="2720213"/>
              <a:ext cx="2633980" cy="1095375"/>
            </a:xfrm>
            <a:custGeom>
              <a:avLst/>
              <a:gdLst/>
              <a:ahLst/>
              <a:cxnLst/>
              <a:rect l="l" t="t" r="r" b="b"/>
              <a:pathLst>
                <a:path w="2633979" h="1095375">
                  <a:moveTo>
                    <a:pt x="2086102" y="0"/>
                  </a:moveTo>
                  <a:lnTo>
                    <a:pt x="2086102" y="273812"/>
                  </a:lnTo>
                  <a:lnTo>
                    <a:pt x="0" y="273812"/>
                  </a:lnTo>
                  <a:lnTo>
                    <a:pt x="0" y="821309"/>
                  </a:lnTo>
                  <a:lnTo>
                    <a:pt x="2086102" y="821309"/>
                  </a:lnTo>
                  <a:lnTo>
                    <a:pt x="2086102" y="1095120"/>
                  </a:lnTo>
                  <a:lnTo>
                    <a:pt x="2633726" y="547497"/>
                  </a:lnTo>
                  <a:lnTo>
                    <a:pt x="2086102" y="0"/>
                  </a:lnTo>
                  <a:close/>
                </a:path>
              </a:pathLst>
            </a:custGeom>
            <a:solidFill>
              <a:srgbClr val="BCE6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047616" y="2720213"/>
              <a:ext cx="2633980" cy="1095375"/>
            </a:xfrm>
            <a:custGeom>
              <a:avLst/>
              <a:gdLst/>
              <a:ahLst/>
              <a:cxnLst/>
              <a:rect l="l" t="t" r="r" b="b"/>
              <a:pathLst>
                <a:path w="2633979" h="1095375">
                  <a:moveTo>
                    <a:pt x="0" y="273812"/>
                  </a:moveTo>
                  <a:lnTo>
                    <a:pt x="2086102" y="273812"/>
                  </a:lnTo>
                  <a:lnTo>
                    <a:pt x="2086102" y="0"/>
                  </a:lnTo>
                  <a:lnTo>
                    <a:pt x="2633726" y="547497"/>
                  </a:lnTo>
                  <a:lnTo>
                    <a:pt x="2086102" y="1095120"/>
                  </a:lnTo>
                  <a:lnTo>
                    <a:pt x="2086102" y="821309"/>
                  </a:lnTo>
                  <a:lnTo>
                    <a:pt x="0" y="821309"/>
                  </a:lnTo>
                  <a:lnTo>
                    <a:pt x="0" y="273812"/>
                  </a:lnTo>
                  <a:close/>
                </a:path>
              </a:pathLst>
            </a:custGeom>
            <a:ln w="12699">
              <a:solidFill>
                <a:srgbClr val="57C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4262754" y="3005708"/>
            <a:ext cx="192722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74320" marR="5080" indent="-262255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latin typeface="Trebuchet MS"/>
                <a:cs typeface="Trebuchet MS"/>
              </a:rPr>
              <a:t>Gets</a:t>
            </a:r>
            <a:r>
              <a:rPr sz="1600" spc="-20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the</a:t>
            </a:r>
            <a:r>
              <a:rPr sz="1600" spc="-20" dirty="0">
                <a:latin typeface="Trebuchet MS"/>
                <a:cs typeface="Trebuchet MS"/>
              </a:rPr>
              <a:t> </a:t>
            </a:r>
            <a:r>
              <a:rPr sz="1600" spc="-10" dirty="0">
                <a:latin typeface="Trebuchet MS"/>
                <a:cs typeface="Trebuchet MS"/>
              </a:rPr>
              <a:t>information </a:t>
            </a:r>
            <a:r>
              <a:rPr sz="1600" dirty="0">
                <a:latin typeface="Trebuchet MS"/>
                <a:cs typeface="Trebuchet MS"/>
              </a:rPr>
              <a:t>on</a:t>
            </a:r>
            <a:r>
              <a:rPr sz="1600" spc="-15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type</a:t>
            </a:r>
            <a:r>
              <a:rPr sz="1600" spc="-15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of</a:t>
            </a:r>
            <a:r>
              <a:rPr sz="1600" spc="-20" dirty="0">
                <a:latin typeface="Trebuchet MS"/>
                <a:cs typeface="Trebuchet MS"/>
              </a:rPr>
              <a:t> loan</a:t>
            </a:r>
            <a:endParaRPr sz="1600">
              <a:latin typeface="Trebuchet MS"/>
              <a:cs typeface="Trebuchet MS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4055490" y="4207636"/>
            <a:ext cx="2776855" cy="1108075"/>
            <a:chOff x="4055490" y="4207636"/>
            <a:chExt cx="2776855" cy="1108075"/>
          </a:xfrm>
        </p:grpSpPr>
        <p:sp>
          <p:nvSpPr>
            <p:cNvPr id="24" name="object 24"/>
            <p:cNvSpPr/>
            <p:nvPr/>
          </p:nvSpPr>
          <p:spPr>
            <a:xfrm>
              <a:off x="4061840" y="4213986"/>
              <a:ext cx="2764155" cy="1095375"/>
            </a:xfrm>
            <a:custGeom>
              <a:avLst/>
              <a:gdLst/>
              <a:ahLst/>
              <a:cxnLst/>
              <a:rect l="l" t="t" r="r" b="b"/>
              <a:pathLst>
                <a:path w="2764154" h="1095375">
                  <a:moveTo>
                    <a:pt x="2216023" y="0"/>
                  </a:moveTo>
                  <a:lnTo>
                    <a:pt x="2216023" y="273812"/>
                  </a:lnTo>
                  <a:lnTo>
                    <a:pt x="0" y="273812"/>
                  </a:lnTo>
                  <a:lnTo>
                    <a:pt x="0" y="821308"/>
                  </a:lnTo>
                  <a:lnTo>
                    <a:pt x="2216023" y="821308"/>
                  </a:lnTo>
                  <a:lnTo>
                    <a:pt x="2216023" y="1095121"/>
                  </a:lnTo>
                  <a:lnTo>
                    <a:pt x="2763647" y="547624"/>
                  </a:lnTo>
                  <a:lnTo>
                    <a:pt x="2216023" y="0"/>
                  </a:lnTo>
                  <a:close/>
                </a:path>
              </a:pathLst>
            </a:custGeom>
            <a:solidFill>
              <a:srgbClr val="BCE6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061840" y="4213986"/>
              <a:ext cx="2764155" cy="1095375"/>
            </a:xfrm>
            <a:custGeom>
              <a:avLst/>
              <a:gdLst/>
              <a:ahLst/>
              <a:cxnLst/>
              <a:rect l="l" t="t" r="r" b="b"/>
              <a:pathLst>
                <a:path w="2764154" h="1095375">
                  <a:moveTo>
                    <a:pt x="0" y="273812"/>
                  </a:moveTo>
                  <a:lnTo>
                    <a:pt x="2216023" y="273812"/>
                  </a:lnTo>
                  <a:lnTo>
                    <a:pt x="2216023" y="0"/>
                  </a:lnTo>
                  <a:lnTo>
                    <a:pt x="2763647" y="547624"/>
                  </a:lnTo>
                  <a:lnTo>
                    <a:pt x="2216023" y="1095121"/>
                  </a:lnTo>
                  <a:lnTo>
                    <a:pt x="2216023" y="821308"/>
                  </a:lnTo>
                  <a:lnTo>
                    <a:pt x="0" y="821308"/>
                  </a:lnTo>
                  <a:lnTo>
                    <a:pt x="0" y="273812"/>
                  </a:lnTo>
                  <a:close/>
                </a:path>
              </a:pathLst>
            </a:custGeom>
            <a:ln w="12700">
              <a:solidFill>
                <a:srgbClr val="57C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4170045" y="4500117"/>
            <a:ext cx="227203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03555" marR="5080" indent="-49149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latin typeface="Trebuchet MS"/>
                <a:cs typeface="Trebuchet MS"/>
              </a:rPr>
              <a:t>Provides</a:t>
            </a:r>
            <a:r>
              <a:rPr sz="1600" spc="-60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the</a:t>
            </a:r>
            <a:r>
              <a:rPr sz="1600" spc="-65" dirty="0">
                <a:latin typeface="Trebuchet MS"/>
                <a:cs typeface="Trebuchet MS"/>
              </a:rPr>
              <a:t> </a:t>
            </a:r>
            <a:r>
              <a:rPr sz="1600" spc="-10" dirty="0">
                <a:latin typeface="Trebuchet MS"/>
                <a:cs typeface="Trebuchet MS"/>
              </a:rPr>
              <a:t>information </a:t>
            </a:r>
            <a:r>
              <a:rPr sz="1600" dirty="0">
                <a:latin typeface="Trebuchet MS"/>
                <a:cs typeface="Trebuchet MS"/>
              </a:rPr>
              <a:t>on</a:t>
            </a:r>
            <a:r>
              <a:rPr sz="1600" spc="-15" dirty="0">
                <a:latin typeface="Trebuchet MS"/>
                <a:cs typeface="Trebuchet MS"/>
              </a:rPr>
              <a:t> </a:t>
            </a:r>
            <a:r>
              <a:rPr sz="1600" spc="-10" dirty="0">
                <a:latin typeface="Trebuchet MS"/>
                <a:cs typeface="Trebuchet MS"/>
              </a:rPr>
              <a:t>documents</a:t>
            </a:r>
            <a:endParaRPr sz="16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8340" y="481711"/>
            <a:ext cx="3430904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1" spc="-45" dirty="0"/>
              <a:t>Creating</a:t>
            </a:r>
            <a:r>
              <a:rPr b="1" spc="-229" dirty="0"/>
              <a:t> </a:t>
            </a:r>
            <a:r>
              <a:rPr b="1" spc="-75" dirty="0"/>
              <a:t>Tasks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3623" y="1478064"/>
            <a:ext cx="10949940" cy="486243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8340" y="481711"/>
            <a:ext cx="3430904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1" spc="-45" dirty="0"/>
              <a:t>Creating</a:t>
            </a:r>
            <a:r>
              <a:rPr b="1" spc="-229" dirty="0"/>
              <a:t> </a:t>
            </a:r>
            <a:r>
              <a:rPr b="1" spc="-75" dirty="0"/>
              <a:t>Tasks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600" y="1417700"/>
            <a:ext cx="11172571" cy="272224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8340" y="481711"/>
            <a:ext cx="3430904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1" spc="-45" dirty="0"/>
              <a:t>Creating</a:t>
            </a:r>
            <a:r>
              <a:rPr b="1" spc="-229" dirty="0"/>
              <a:t> </a:t>
            </a:r>
            <a:r>
              <a:rPr b="1" spc="-75" dirty="0"/>
              <a:t>Tasks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600" y="1649476"/>
            <a:ext cx="9204452" cy="26009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3C2589-BF28-4E91-82AA-EE47DBB1D7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23982"/>
            <a:ext cx="10515600" cy="2852737"/>
          </a:xfrm>
        </p:spPr>
        <p:txBody>
          <a:bodyPr/>
          <a:lstStyle/>
          <a:p>
            <a:r>
              <a:rPr lang="en-IN" sz="6000" spc="-55" dirty="0">
                <a:solidFill>
                  <a:srgbClr val="202745"/>
                </a:solidFill>
                <a:cs typeface="Franklin Gothic Medium"/>
              </a:rPr>
              <a:t>Initiate</a:t>
            </a:r>
            <a:r>
              <a:rPr lang="en-IN" sz="6000" spc="-210" dirty="0">
                <a:solidFill>
                  <a:srgbClr val="202745"/>
                </a:solidFill>
                <a:cs typeface="Franklin Gothic Medium"/>
              </a:rPr>
              <a:t> </a:t>
            </a:r>
            <a:r>
              <a:rPr lang="en-IN" sz="6000" spc="-20" dirty="0">
                <a:solidFill>
                  <a:srgbClr val="202745"/>
                </a:solidFill>
                <a:cs typeface="Franklin Gothic Medium"/>
              </a:rPr>
              <a:t>chats</a:t>
            </a:r>
            <a:br>
              <a:rPr lang="en-IN" sz="6000" dirty="0">
                <a:latin typeface="Franklin Gothic Medium"/>
                <a:cs typeface="Franklin Gothic Medium"/>
              </a:rPr>
            </a:br>
            <a:endParaRPr lang="en-IN" dirty="0"/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02329CF9-30A7-4275-B072-68D00D51657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44550" y="2422324"/>
            <a:ext cx="4827651" cy="908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73198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1878" y="682619"/>
            <a:ext cx="10571922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1" spc="-20" dirty="0"/>
              <a:t>Chat</a:t>
            </a:r>
            <a:r>
              <a:rPr b="1" spc="-245" dirty="0"/>
              <a:t> </a:t>
            </a:r>
            <a:r>
              <a:rPr b="1" spc="-50" dirty="0"/>
              <a:t>Results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1878" y="1374781"/>
            <a:ext cx="8387621" cy="4800600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07A87976-4980-42CF-8145-C0B36F7BA006}"/>
              </a:ext>
            </a:extLst>
          </p:cNvPr>
          <p:cNvSpPr/>
          <p:nvPr/>
        </p:nvSpPr>
        <p:spPr>
          <a:xfrm>
            <a:off x="781878" y="3488788"/>
            <a:ext cx="2045728" cy="2532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dirty="0" err="1"/>
              <a:t>Pratikpra</a:t>
            </a:r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746130F-B06F-426C-B560-8E664EDA0CCF}"/>
              </a:ext>
            </a:extLst>
          </p:cNvPr>
          <p:cNvSpPr/>
          <p:nvPr/>
        </p:nvSpPr>
        <p:spPr>
          <a:xfrm>
            <a:off x="1674055" y="4389120"/>
            <a:ext cx="1012874" cy="2110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7020" y="682619"/>
            <a:ext cx="10656780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1" spc="-20" dirty="0"/>
              <a:t>Chat</a:t>
            </a:r>
            <a:r>
              <a:rPr b="1" spc="-245" dirty="0"/>
              <a:t> </a:t>
            </a:r>
            <a:r>
              <a:rPr b="1" spc="-50" dirty="0"/>
              <a:t>Results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7020" y="1398945"/>
            <a:ext cx="10359345" cy="3968887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E251AB5-7347-4828-B824-F6A4FD8993A6}"/>
              </a:ext>
            </a:extLst>
          </p:cNvPr>
          <p:cNvSpPr/>
          <p:nvPr/>
        </p:nvSpPr>
        <p:spPr>
          <a:xfrm>
            <a:off x="1772529" y="3429000"/>
            <a:ext cx="1294228" cy="3552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B5E3162-4828-4F8A-859C-C39CE462A3CA}"/>
              </a:ext>
            </a:extLst>
          </p:cNvPr>
          <p:cNvSpPr/>
          <p:nvPr/>
        </p:nvSpPr>
        <p:spPr>
          <a:xfrm>
            <a:off x="5261318" y="3429000"/>
            <a:ext cx="1083211" cy="3552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51122D-7E17-40A5-884E-376F6F68C5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4400" b="1" spc="-20" dirty="0">
                <a:solidFill>
                  <a:srgbClr val="202745"/>
                </a:solidFill>
                <a:cs typeface="Franklin Gothic Medium"/>
              </a:rPr>
              <a:t>Chat</a:t>
            </a:r>
            <a:r>
              <a:rPr lang="en-IN" sz="4400" b="1" spc="-245" dirty="0">
                <a:solidFill>
                  <a:srgbClr val="202745"/>
                </a:solidFill>
                <a:cs typeface="Franklin Gothic Medium"/>
              </a:rPr>
              <a:t> </a:t>
            </a:r>
            <a:r>
              <a:rPr lang="en-IN" sz="4400" b="1" spc="-50" dirty="0">
                <a:solidFill>
                  <a:srgbClr val="202745"/>
                </a:solidFill>
                <a:cs typeface="Franklin Gothic Medium"/>
              </a:rPr>
              <a:t>Results</a:t>
            </a:r>
            <a:endParaRPr lang="en-IN" b="1" dirty="0"/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94BF69A5-6754-42DE-AD6A-BB691CB20F3B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942833" y="1533261"/>
            <a:ext cx="6463204" cy="4351338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CC99D7A4-91B6-4542-819C-882EE809901C}"/>
              </a:ext>
            </a:extLst>
          </p:cNvPr>
          <p:cNvSpPr/>
          <p:nvPr/>
        </p:nvSpPr>
        <p:spPr>
          <a:xfrm>
            <a:off x="1730326" y="3123028"/>
            <a:ext cx="942536" cy="1828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68AC13C-1A9A-412C-A2A4-DA5D89E9EEC0}"/>
              </a:ext>
            </a:extLst>
          </p:cNvPr>
          <p:cNvSpPr/>
          <p:nvPr/>
        </p:nvSpPr>
        <p:spPr>
          <a:xfrm>
            <a:off x="4304714" y="3123028"/>
            <a:ext cx="745588" cy="1828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E5FD24D-69C1-48FF-AC7A-3CDF299194DD}"/>
              </a:ext>
            </a:extLst>
          </p:cNvPr>
          <p:cNvSpPr/>
          <p:nvPr/>
        </p:nvSpPr>
        <p:spPr>
          <a:xfrm>
            <a:off x="942833" y="3429000"/>
            <a:ext cx="942536" cy="1828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85495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39</TotalTime>
  <Words>171</Words>
  <Application>Microsoft Office PowerPoint</Application>
  <PresentationFormat>Widescreen</PresentationFormat>
  <Paragraphs>41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Calibri</vt:lpstr>
      <vt:lpstr>Calibri Light</vt:lpstr>
      <vt:lpstr>Franklin Gothic Medium</vt:lpstr>
      <vt:lpstr>Trebuchet MS</vt:lpstr>
      <vt:lpstr>Office Theme</vt:lpstr>
      <vt:lpstr>PowerPoint Presentation</vt:lpstr>
      <vt:lpstr>Consumer Lending Pre-screening &amp; Onboarding Agent</vt:lpstr>
      <vt:lpstr>Initial Setup</vt:lpstr>
      <vt:lpstr>Agent-1 : Collects the customer details</vt:lpstr>
      <vt:lpstr>Agent-2 : Collects the interested products</vt:lpstr>
      <vt:lpstr>Agent-3: Loan Documents Agent</vt:lpstr>
      <vt:lpstr>Agent4: Customer Proxy Agent</vt:lpstr>
      <vt:lpstr>Creating Tasks</vt:lpstr>
      <vt:lpstr>Creating Tasks</vt:lpstr>
      <vt:lpstr>Creating Tasks</vt:lpstr>
      <vt:lpstr>Creating Tasks</vt:lpstr>
      <vt:lpstr>Initiate chats </vt:lpstr>
      <vt:lpstr>Chat Results</vt:lpstr>
      <vt:lpstr>Chat Results</vt:lpstr>
      <vt:lpstr>Chat Results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HP suer</dc:creator>
  <cp:lastModifiedBy>HP suer</cp:lastModifiedBy>
  <cp:revision>8</cp:revision>
  <dcterms:created xsi:type="dcterms:W3CDTF">2026-01-06T11:02:00Z</dcterms:created>
  <dcterms:modified xsi:type="dcterms:W3CDTF">2026-01-06T11:44:53Z</dcterms:modified>
</cp:coreProperties>
</file>